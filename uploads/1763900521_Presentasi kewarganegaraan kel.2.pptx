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Bebas Neue Cyrillic" charset="1" panose="02000506000000020004"/>
      <p:regular r:id="rId22"/>
    </p:embeddedFont>
    <p:embeddedFont>
      <p:font typeface="Halant Semi-Bold" charset="1" panose="00000700000000000000"/>
      <p:regular r:id="rId23"/>
    </p:embeddedFont>
    <p:embeddedFont>
      <p:font typeface="Halant Light" charset="1" panose="00000400000000000000"/>
      <p:regular r:id="rId24"/>
    </p:embeddedFont>
    <p:embeddedFont>
      <p:font typeface="Halant Medium" charset="1" panose="00000600000000000000"/>
      <p:regular r:id="rId25"/>
    </p:embeddedFont>
    <p:embeddedFont>
      <p:font typeface="Halant Bold" charset="1" panose="00000800000000000000"/>
      <p:regular r:id="rId26"/>
    </p:embeddedFont>
    <p:embeddedFont>
      <p:font typeface="Halant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gif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gif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3.gif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3.gif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3.gif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3.gif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9144000" y="4158221"/>
            <a:ext cx="6481653" cy="174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2"/>
              </a:lnSpc>
            </a:pPr>
            <a:r>
              <a:rPr lang="en-US" sz="144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KONSTITUSI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1892999"/>
            <a:ext cx="6501002" cy="6501002"/>
          </a:xfrm>
          <a:custGeom>
            <a:avLst/>
            <a:gdLst/>
            <a:ahLst/>
            <a:cxnLst/>
            <a:rect r="r" b="b" t="t" l="l"/>
            <a:pathLst>
              <a:path h="6501002" w="6501002">
                <a:moveTo>
                  <a:pt x="0" y="0"/>
                </a:moveTo>
                <a:lnTo>
                  <a:pt x="6501002" y="0"/>
                </a:lnTo>
                <a:lnTo>
                  <a:pt x="6501002" y="6501002"/>
                </a:lnTo>
                <a:lnTo>
                  <a:pt x="0" y="6501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70783" y="9611887"/>
            <a:ext cx="1088517" cy="2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36"/>
              </a:lnSpc>
            </a:pPr>
            <a:r>
              <a:rPr lang="en-US" b="true" sz="1800">
                <a:solidFill>
                  <a:srgbClr val="FFFFFF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872" y="6048362"/>
            <a:ext cx="7570170" cy="585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24"/>
              </a:lnSpc>
            </a:pPr>
            <a:r>
              <a:rPr lang="en-US" sz="4800" spc="96">
                <a:solidFill>
                  <a:srgbClr val="A8825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KELOMPOK 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3" id="3"/>
          <p:cNvSpPr/>
          <p:nvPr/>
        </p:nvSpPr>
        <p:spPr>
          <a:xfrm rot="0">
            <a:off x="1028700" y="1028700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TextBox 4" id="4"/>
          <p:cNvSpPr txBox="true"/>
          <p:nvPr/>
        </p:nvSpPr>
        <p:spPr>
          <a:xfrm rot="0">
            <a:off x="8245689" y="2506487"/>
            <a:ext cx="8115300" cy="1747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72"/>
              </a:lnSpc>
            </a:pPr>
            <a:r>
              <a:rPr lang="en-US" sz="14400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KELOMPOK 2 :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1892999"/>
            <a:ext cx="6501002" cy="6501002"/>
          </a:xfrm>
          <a:custGeom>
            <a:avLst/>
            <a:gdLst/>
            <a:ahLst/>
            <a:cxnLst/>
            <a:rect r="r" b="b" t="t" l="l"/>
            <a:pathLst>
              <a:path h="6501002" w="6501002">
                <a:moveTo>
                  <a:pt x="0" y="0"/>
                </a:moveTo>
                <a:lnTo>
                  <a:pt x="6501002" y="0"/>
                </a:lnTo>
                <a:lnTo>
                  <a:pt x="6501002" y="6501002"/>
                </a:lnTo>
                <a:lnTo>
                  <a:pt x="0" y="6501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170783" y="9611887"/>
            <a:ext cx="1088517" cy="2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36"/>
              </a:lnSpc>
            </a:pPr>
            <a:r>
              <a:rPr lang="en-US" b="true" sz="1800">
                <a:solidFill>
                  <a:srgbClr val="FFFFFF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057226" y="4358528"/>
            <a:ext cx="8114428" cy="48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5907" indent="-422954" lvl="1">
              <a:lnSpc>
                <a:spcPts val="3447"/>
              </a:lnSpc>
              <a:buAutoNum type="arabicPeriod" startAt="1"/>
            </a:pPr>
            <a:r>
              <a:rPr lang="en-US" sz="3918" spc="78">
                <a:solidFill>
                  <a:srgbClr val="A8825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mOHAMAD WISNU MALIK KOI (1521424001)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00613" y="5118232"/>
            <a:ext cx="8114428" cy="48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3918" spc="78">
                <a:solidFill>
                  <a:srgbClr val="A8825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2. DAWALSYAH FIRDAUS ISMAIL (1521424002)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600613" y="5874780"/>
            <a:ext cx="8114428" cy="48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3918" spc="78">
                <a:solidFill>
                  <a:srgbClr val="A8825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3. Febriyanti lamanila (1521424015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600613" y="6469403"/>
            <a:ext cx="8114428" cy="48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7"/>
              </a:lnSpc>
            </a:pPr>
            <a:r>
              <a:rPr lang="en-US" sz="3918" spc="78">
                <a:solidFill>
                  <a:srgbClr val="A8825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4. Nurul pratiwi (1521424007)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599519"/>
            <a:ext cx="7147425" cy="195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800">
                <a:solidFill>
                  <a:srgbClr val="FFFFFF"/>
                </a:solidFill>
                <a:latin typeface="Halant Light"/>
                <a:ea typeface="Halant Light"/>
                <a:cs typeface="Halant Light"/>
                <a:sym typeface="Halant Light"/>
              </a:rPr>
              <a:t>Ko</a:t>
            </a:r>
            <a:r>
              <a:rPr lang="en-US" sz="2800">
                <a:solidFill>
                  <a:srgbClr val="FFFFFF"/>
                </a:solidFill>
                <a:latin typeface="Halant Light"/>
                <a:ea typeface="Halant Light"/>
                <a:cs typeface="Halant Light"/>
                <a:sym typeface="Halant Light"/>
              </a:rPr>
              <a:t>nstitusi adalah hukum dasar tertinggi yang menjadi landasan penyelenggaraan negara. Konstitusi dapat berupa aturan tertulis (Undang-Undang Dasar) dan aturan tidak tertulis (konvensi).</a:t>
            </a:r>
          </a:p>
        </p:txBody>
      </p:sp>
      <p:sp>
        <p:nvSpPr>
          <p:cNvPr name="AutoShape 3" id="3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4" id="4"/>
          <p:cNvSpPr/>
          <p:nvPr/>
        </p:nvSpPr>
        <p:spPr>
          <a:xfrm rot="0">
            <a:off x="1028700" y="1028700"/>
            <a:ext cx="16230600" cy="9525"/>
          </a:xfrm>
          <a:prstGeom prst="rect">
            <a:avLst/>
          </a:prstGeom>
          <a:solidFill>
            <a:srgbClr val="A88250"/>
          </a:solidFill>
        </p:spPr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11518694" y="1663539"/>
            <a:ext cx="1597231" cy="1697405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-10800000">
            <a:off x="15314889" y="6926056"/>
            <a:ext cx="1597231" cy="1697405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028700" y="2141063"/>
            <a:ext cx="7570170" cy="1795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4"/>
              </a:lnSpc>
            </a:pPr>
            <a:r>
              <a:rPr lang="en-US" sz="7698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PENGE</a:t>
            </a:r>
            <a:r>
              <a:rPr lang="en-US" sz="7698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RTIAN DAN KONSEP DASAR KONSTITUSI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170783" y="9611887"/>
            <a:ext cx="1088517" cy="2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36"/>
              </a:lnSpc>
            </a:pPr>
            <a:r>
              <a:rPr lang="en-US" b="true" sz="1800">
                <a:solidFill>
                  <a:srgbClr val="FFFFFF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02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7193708"/>
            <a:ext cx="5022214" cy="581050"/>
            <a:chOff x="0" y="0"/>
            <a:chExt cx="6696285" cy="774733"/>
          </a:xfrm>
        </p:grpSpPr>
        <p:sp>
          <p:nvSpPr>
            <p:cNvPr name="AutoShape 10" id="10"/>
            <p:cNvSpPr/>
            <p:nvPr/>
          </p:nvSpPr>
          <p:spPr>
            <a:xfrm rot="0">
              <a:off x="0" y="0"/>
              <a:ext cx="6696285" cy="774733"/>
            </a:xfrm>
            <a:prstGeom prst="rect">
              <a:avLst/>
            </a:prstGeom>
            <a:solidFill>
              <a:srgbClr val="A88250"/>
            </a:solid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299639" y="191455"/>
              <a:ext cx="6097006" cy="4212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03"/>
                </a:lnSpc>
              </a:pPr>
              <a:r>
                <a:rPr lang="en-US" sz="2258" b="true">
                  <a:solidFill>
                    <a:srgbClr val="FFFFFF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Konsti</a:t>
              </a:r>
              <a:r>
                <a:rPr lang="en-US" b="true" sz="2258">
                  <a:solidFill>
                    <a:srgbClr val="FFFFFF"/>
                  </a:solidFill>
                  <a:latin typeface="Halant Medium"/>
                  <a:ea typeface="Halant Medium"/>
                  <a:cs typeface="Halant Medium"/>
                  <a:sym typeface="Halant Medium"/>
                </a:rPr>
                <a:t>tusi dan Konstitusionalisme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171513" y="2099607"/>
            <a:ext cx="6087787" cy="6087787"/>
          </a:xfrm>
          <a:custGeom>
            <a:avLst/>
            <a:gdLst/>
            <a:ahLst/>
            <a:cxnLst/>
            <a:rect r="r" b="b" t="t" l="l"/>
            <a:pathLst>
              <a:path h="6087787" w="6087787">
                <a:moveTo>
                  <a:pt x="0" y="0"/>
                </a:moveTo>
                <a:lnTo>
                  <a:pt x="6087787" y="0"/>
                </a:lnTo>
                <a:lnTo>
                  <a:pt x="6087787" y="6087786"/>
                </a:lnTo>
                <a:lnTo>
                  <a:pt x="0" y="608778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5336" y="2037924"/>
            <a:ext cx="6211151" cy="6211151"/>
          </a:xfrm>
          <a:custGeom>
            <a:avLst/>
            <a:gdLst/>
            <a:ahLst/>
            <a:cxnLst/>
            <a:rect r="r" b="b" t="t" l="l"/>
            <a:pathLst>
              <a:path h="6211151" w="6211151">
                <a:moveTo>
                  <a:pt x="0" y="0"/>
                </a:moveTo>
                <a:lnTo>
                  <a:pt x="6211151" y="0"/>
                </a:lnTo>
                <a:lnTo>
                  <a:pt x="6211151" y="6211152"/>
                </a:lnTo>
                <a:lnTo>
                  <a:pt x="0" y="62111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371287" y="5172075"/>
            <a:ext cx="6724243" cy="274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799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Konstitusion</a:t>
            </a:r>
            <a:r>
              <a:rPr lang="en-US" sz="2799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alisme: Paham atau ideologi yang menghendaki adanya pembatasan kekuasaan negara melalui konstitusi, dengan tujuan menjamin hak-hak warga negara. Konstitusi adalah "wadah" (aturan), Konstitusionalisme adalah "isi" (semangat pembatasan kekuasaan).</a:t>
            </a:r>
          </a:p>
        </p:txBody>
      </p:sp>
      <p:sp>
        <p:nvSpPr>
          <p:cNvPr name="AutoShape 4" id="4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5" id="5"/>
          <p:cNvSpPr/>
          <p:nvPr/>
        </p:nvSpPr>
        <p:spPr>
          <a:xfrm rot="0">
            <a:off x="1028700" y="1028700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6" id="6"/>
          <p:cNvSpPr/>
          <p:nvPr/>
        </p:nvSpPr>
        <p:spPr>
          <a:xfrm rot="0">
            <a:off x="12827071" y="4280312"/>
            <a:ext cx="4432229" cy="587842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9886607" y="2002554"/>
            <a:ext cx="7372693" cy="2002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563"/>
              </a:lnSpc>
            </a:pPr>
            <a:r>
              <a:rPr lang="en-US" sz="8595">
                <a:solidFill>
                  <a:srgbClr val="161617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KONSTITUSI D</a:t>
            </a:r>
            <a:r>
              <a:rPr lang="en-US" sz="8595">
                <a:solidFill>
                  <a:srgbClr val="161617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AN KONSTITUSIONALISME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611887"/>
            <a:ext cx="1088517" cy="2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b="true" sz="1800">
                <a:solidFill>
                  <a:srgbClr val="161617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059961" y="4454907"/>
            <a:ext cx="4035570" cy="31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3"/>
              </a:lnSpc>
            </a:pPr>
            <a:r>
              <a:rPr lang="en-US" b="true" sz="2258">
                <a:solidFill>
                  <a:srgbClr val="FFFFFF"/>
                </a:solidFill>
                <a:latin typeface="Halant Medium"/>
                <a:ea typeface="Halant Medium"/>
                <a:cs typeface="Halant Medium"/>
                <a:sym typeface="Halant Medium"/>
              </a:rPr>
              <a:t>20 April - 20 Mei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70122" y="2099607"/>
            <a:ext cx="6089178" cy="6089178"/>
          </a:xfrm>
          <a:custGeom>
            <a:avLst/>
            <a:gdLst/>
            <a:ahLst/>
            <a:cxnLst/>
            <a:rect r="r" b="b" t="t" l="l"/>
            <a:pathLst>
              <a:path h="6089178" w="6089178">
                <a:moveTo>
                  <a:pt x="0" y="0"/>
                </a:moveTo>
                <a:lnTo>
                  <a:pt x="6089178" y="0"/>
                </a:lnTo>
                <a:lnTo>
                  <a:pt x="6089178" y="6089178"/>
                </a:lnTo>
                <a:lnTo>
                  <a:pt x="0" y="60891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862523"/>
            <a:ext cx="10489994" cy="391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07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Halant Bold"/>
                <a:ea typeface="Halant Bold"/>
                <a:cs typeface="Halant Bold"/>
                <a:sym typeface="Halant Bold"/>
              </a:rPr>
              <a:t>Organis</a:t>
            </a:r>
            <a:r>
              <a:rPr lang="en-US" b="true" sz="2799">
                <a:solidFill>
                  <a:srgbClr val="FFFFFF"/>
                </a:solidFill>
                <a:latin typeface="Halant Bold"/>
                <a:ea typeface="Halant Bold"/>
                <a:cs typeface="Halant Bold"/>
                <a:sym typeface="Halant Bold"/>
              </a:rPr>
              <a:t>asi Negara:</a:t>
            </a:r>
            <a:r>
              <a:rPr lang="en-US" sz="2799">
                <a:solidFill>
                  <a:srgbClr val="FFFFFF"/>
                </a:solidFill>
                <a:latin typeface="Halant Light"/>
                <a:ea typeface="Halant Light"/>
                <a:cs typeface="Halant Light"/>
                <a:sym typeface="Halant Light"/>
              </a:rPr>
              <a:t> Pengaturan mengenai bentuk, struktur, dan fungsi lembaga-lembaga negara (eksekutif, legislatif, yudikatif), serta pembagian kekuasaan.</a:t>
            </a:r>
          </a:p>
          <a:p>
            <a:pPr algn="l" marL="604519" indent="-302260" lvl="1">
              <a:lnSpc>
                <a:spcPts val="307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Halant Bold"/>
                <a:ea typeface="Halant Bold"/>
                <a:cs typeface="Halant Bold"/>
                <a:sym typeface="Halant Bold"/>
              </a:rPr>
              <a:t>Hak Asasi Manusia (HAM):</a:t>
            </a:r>
            <a:r>
              <a:rPr lang="en-US" sz="2799">
                <a:solidFill>
                  <a:srgbClr val="FFFFFF"/>
                </a:solidFill>
                <a:latin typeface="Halant Light"/>
                <a:ea typeface="Halant Light"/>
                <a:cs typeface="Halant Light"/>
                <a:sym typeface="Halant Light"/>
              </a:rPr>
              <a:t> Jaminan dan perlindungan terhadap hak-hak dasar warga negara.</a:t>
            </a:r>
          </a:p>
          <a:p>
            <a:pPr algn="l" marL="604519" indent="-302260" lvl="1">
              <a:lnSpc>
                <a:spcPts val="307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Halant Bold"/>
                <a:ea typeface="Halant Bold"/>
                <a:cs typeface="Halant Bold"/>
                <a:sym typeface="Halant Bold"/>
              </a:rPr>
              <a:t>Prosedur Perubahan Konstitusi:</a:t>
            </a:r>
            <a:r>
              <a:rPr lang="en-US" sz="2799">
                <a:solidFill>
                  <a:srgbClr val="FFFFFF"/>
                </a:solidFill>
                <a:latin typeface="Halant Light"/>
                <a:ea typeface="Halant Light"/>
                <a:cs typeface="Halant Light"/>
                <a:sym typeface="Halant Light"/>
              </a:rPr>
              <a:t> Ketentuan mengenai cara atau mekanisme mengubah (amandemen) konstitusi.</a:t>
            </a:r>
          </a:p>
          <a:p>
            <a:pPr algn="l" marL="604520" indent="-302260" lvl="1">
              <a:lnSpc>
                <a:spcPts val="308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Halant Bold"/>
                <a:ea typeface="Halant Bold"/>
                <a:cs typeface="Halant Bold"/>
                <a:sym typeface="Halant Bold"/>
              </a:rPr>
              <a:t>Cita-cita Rakyat dan Asas-asas Ideologi Negara</a:t>
            </a:r>
            <a:r>
              <a:rPr lang="en-US" sz="2800">
                <a:solidFill>
                  <a:srgbClr val="FFFFFF"/>
                </a:solidFill>
                <a:latin typeface="Halant Light"/>
                <a:ea typeface="Halant Light"/>
                <a:cs typeface="Halant Light"/>
                <a:sym typeface="Halant Light"/>
              </a:rPr>
              <a:t>: Nilai-nilai, tujuan, dan landasan filosofis negara yang hendak dicapai.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13892"/>
            <a:ext cx="7296264" cy="19560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44"/>
              </a:lnSpc>
            </a:pPr>
            <a:r>
              <a:rPr lang="en-US" sz="8346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UNSUR-U</a:t>
            </a:r>
            <a:r>
              <a:rPr lang="en-US" sz="8346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NSUR POKOK KONSTITUSI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6" id="6"/>
          <p:cNvSpPr/>
          <p:nvPr/>
        </p:nvSpPr>
        <p:spPr>
          <a:xfrm rot="0">
            <a:off x="1028700" y="1028700"/>
            <a:ext cx="16230600" cy="9525"/>
          </a:xfrm>
          <a:prstGeom prst="rect">
            <a:avLst/>
          </a:prstGeom>
          <a:solidFill>
            <a:srgbClr val="A88250"/>
          </a:solid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518694" y="1663539"/>
            <a:ext cx="1597231" cy="1697405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-10800000">
            <a:off x="15314889" y="6926056"/>
            <a:ext cx="1597231" cy="1697405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>
            <a:off x="1028700" y="7774758"/>
            <a:ext cx="4432229" cy="587842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16170783" y="9611887"/>
            <a:ext cx="1088517" cy="2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36"/>
              </a:lnSpc>
            </a:pPr>
            <a:r>
              <a:rPr lang="en-US" b="true" sz="1800">
                <a:solidFill>
                  <a:srgbClr val="FFFFFF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04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7029" y="7925493"/>
            <a:ext cx="4035570" cy="31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3"/>
              </a:lnSpc>
            </a:pPr>
            <a:r>
              <a:rPr lang="en-US" b="true" sz="2258">
                <a:solidFill>
                  <a:srgbClr val="FFFFFF"/>
                </a:solidFill>
                <a:latin typeface="Halant Medium"/>
                <a:ea typeface="Halant Medium"/>
                <a:cs typeface="Halant Medium"/>
                <a:sym typeface="Halant Medium"/>
              </a:rPr>
              <a:t>21 Mei - 20 Juni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99607"/>
            <a:ext cx="6087787" cy="6087787"/>
          </a:xfrm>
          <a:custGeom>
            <a:avLst/>
            <a:gdLst/>
            <a:ahLst/>
            <a:cxnLst/>
            <a:rect r="r" b="b" t="t" l="l"/>
            <a:pathLst>
              <a:path h="6087787" w="6087787">
                <a:moveTo>
                  <a:pt x="0" y="0"/>
                </a:moveTo>
                <a:lnTo>
                  <a:pt x="6087787" y="0"/>
                </a:lnTo>
                <a:lnTo>
                  <a:pt x="6087787" y="6087786"/>
                </a:lnTo>
                <a:lnTo>
                  <a:pt x="0" y="6087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68037" y="4565015"/>
            <a:ext cx="10591263" cy="4693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079"/>
              </a:lnSpc>
              <a:buFont typeface="Arial"/>
              <a:buChar char="•"/>
            </a:pPr>
            <a:r>
              <a:rPr lang="en-US" b="true" sz="2799">
                <a:solidFill>
                  <a:srgbClr val="161617"/>
                </a:solidFill>
                <a:latin typeface="Halant Bold"/>
                <a:ea typeface="Halant Bold"/>
                <a:cs typeface="Halant Bold"/>
                <a:sym typeface="Halant Bold"/>
              </a:rPr>
              <a:t>F</a:t>
            </a:r>
            <a:r>
              <a:rPr lang="en-US" b="true" sz="2799">
                <a:solidFill>
                  <a:srgbClr val="161617"/>
                </a:solidFill>
                <a:latin typeface="Halant Bold"/>
                <a:ea typeface="Halant Bold"/>
                <a:cs typeface="Halant Bold"/>
                <a:sym typeface="Halant Bold"/>
              </a:rPr>
              <a:t>ungsi Pembatas Kekuasaan:</a:t>
            </a:r>
            <a:r>
              <a:rPr lang="en-US" sz="2799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 Menentukan batasan-batasan kekuasaan organ negara agar tidak sewenang-wenang.</a:t>
            </a:r>
          </a:p>
          <a:p>
            <a:pPr algn="just" marL="604519" indent="-302260" lvl="1">
              <a:lnSpc>
                <a:spcPts val="3079"/>
              </a:lnSpc>
              <a:buFont typeface="Arial"/>
              <a:buChar char="•"/>
            </a:pPr>
            <a:r>
              <a:rPr lang="en-US" b="true" sz="2799">
                <a:solidFill>
                  <a:srgbClr val="161617"/>
                </a:solidFill>
                <a:latin typeface="Halant Bold"/>
                <a:ea typeface="Halant Bold"/>
                <a:cs typeface="Halant Bold"/>
                <a:sym typeface="Halant Bold"/>
              </a:rPr>
              <a:t>Fungsi Pengatur Hubungan Kekuasaan:</a:t>
            </a:r>
            <a:r>
              <a:rPr lang="en-US" sz="2799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 Mengatur hubungan antar-organ negara (misalnya, eksekutif dengan legislatif).</a:t>
            </a:r>
          </a:p>
          <a:p>
            <a:pPr algn="just" marL="604519" indent="-302260" lvl="1">
              <a:lnSpc>
                <a:spcPts val="3079"/>
              </a:lnSpc>
              <a:buFont typeface="Arial"/>
              <a:buChar char="•"/>
            </a:pPr>
            <a:r>
              <a:rPr lang="en-US" b="true" sz="2799">
                <a:solidFill>
                  <a:srgbClr val="161617"/>
                </a:solidFill>
                <a:latin typeface="Halant Bold"/>
                <a:ea typeface="Halant Bold"/>
                <a:cs typeface="Halant Bold"/>
                <a:sym typeface="Halant Bold"/>
              </a:rPr>
              <a:t>Fungsi Pengatur Hubungan Negara dan Warga Negara: </a:t>
            </a:r>
            <a:r>
              <a:rPr lang="en-US" sz="2799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Menetapkan hak dan kewajiban warga negara serta pemerintah.</a:t>
            </a:r>
          </a:p>
          <a:p>
            <a:pPr algn="just" marL="604519" indent="-302260" lvl="1">
              <a:lnSpc>
                <a:spcPts val="3079"/>
              </a:lnSpc>
              <a:buFont typeface="Arial"/>
              <a:buChar char="•"/>
            </a:pPr>
            <a:r>
              <a:rPr lang="en-US" b="true" sz="2799">
                <a:solidFill>
                  <a:srgbClr val="161617"/>
                </a:solidFill>
                <a:latin typeface="Halant Bold"/>
                <a:ea typeface="Halant Bold"/>
                <a:cs typeface="Halant Bold"/>
                <a:sym typeface="Halant Bold"/>
              </a:rPr>
              <a:t>Fungsi Sumber Legitimasi:</a:t>
            </a:r>
            <a:r>
              <a:rPr lang="en-US" sz="2799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 Memberikan landasan hukum dan keabsahan terhadap kekuasaan negara dan kegiatan penyelenggaraannya.</a:t>
            </a:r>
          </a:p>
          <a:p>
            <a:pPr algn="just" marL="604520" indent="-302260" lvl="1">
              <a:lnSpc>
                <a:spcPts val="3080"/>
              </a:lnSpc>
              <a:buFont typeface="Arial"/>
              <a:buChar char="•"/>
            </a:pPr>
            <a:r>
              <a:rPr lang="en-US" b="true" sz="2800">
                <a:solidFill>
                  <a:srgbClr val="161617"/>
                </a:solidFill>
                <a:latin typeface="Halant Bold"/>
                <a:ea typeface="Halant Bold"/>
                <a:cs typeface="Halant Bold"/>
                <a:sym typeface="Halant Bold"/>
              </a:rPr>
              <a:t>Fungsi Simbolik:</a:t>
            </a:r>
            <a:r>
              <a:rPr lang="en-US" sz="2800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 Sebagai simbol pemersatu bangsa, rujukan identitas, dan keagungan kebangsaan.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AutoShape 4" id="4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5" id="5"/>
          <p:cNvSpPr/>
          <p:nvPr/>
        </p:nvSpPr>
        <p:spPr>
          <a:xfrm rot="0">
            <a:off x="1028700" y="1028700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6" id="6"/>
          <p:cNvSpPr/>
          <p:nvPr/>
        </p:nvSpPr>
        <p:spPr>
          <a:xfrm rot="0">
            <a:off x="6927886" y="3471355"/>
            <a:ext cx="4432229" cy="587842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1461277" y="1775308"/>
            <a:ext cx="5798023" cy="25740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700"/>
              </a:lnSpc>
            </a:pPr>
            <a:r>
              <a:rPr lang="en-US" sz="11023">
                <a:solidFill>
                  <a:srgbClr val="161617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FUNGSI </a:t>
            </a:r>
            <a:r>
              <a:rPr lang="en-US" sz="11023">
                <a:solidFill>
                  <a:srgbClr val="161617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KONSTITUSI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611887"/>
            <a:ext cx="1088517" cy="2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b="true" sz="1800">
                <a:solidFill>
                  <a:srgbClr val="161617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05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160775" y="3645950"/>
            <a:ext cx="4035570" cy="31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3"/>
              </a:lnSpc>
            </a:pPr>
            <a:r>
              <a:rPr lang="en-US" b="true" sz="2258">
                <a:solidFill>
                  <a:srgbClr val="FFFFFF"/>
                </a:solidFill>
                <a:latin typeface="Halant Medium"/>
                <a:ea typeface="Halant Medium"/>
                <a:cs typeface="Halant Medium"/>
                <a:sym typeface="Halant Medium"/>
              </a:rPr>
              <a:t>21 Juni - 22 Juli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71513" y="2195883"/>
            <a:ext cx="5895235" cy="5895235"/>
          </a:xfrm>
          <a:custGeom>
            <a:avLst/>
            <a:gdLst/>
            <a:ahLst/>
            <a:cxnLst/>
            <a:rect r="r" b="b" t="t" l="l"/>
            <a:pathLst>
              <a:path h="5895235" w="5895235">
                <a:moveTo>
                  <a:pt x="0" y="0"/>
                </a:moveTo>
                <a:lnTo>
                  <a:pt x="5895235" y="0"/>
                </a:lnTo>
                <a:lnTo>
                  <a:pt x="5895235" y="5895234"/>
                </a:lnTo>
                <a:lnTo>
                  <a:pt x="0" y="58952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172075"/>
            <a:ext cx="9735262" cy="2740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079"/>
              </a:lnSpc>
              <a:buFont typeface="Arial"/>
              <a:buChar char="•"/>
            </a:pPr>
            <a:r>
              <a:rPr lang="en-US" b="true" sz="2799">
                <a:solidFill>
                  <a:srgbClr val="FFFFFF"/>
                </a:solidFill>
                <a:latin typeface="Halant Bold"/>
                <a:ea typeface="Halant Bold"/>
                <a:cs typeface="Halant Bold"/>
                <a:sym typeface="Halant Bold"/>
              </a:rPr>
              <a:t>Konstitusi Tertulis:</a:t>
            </a:r>
            <a:r>
              <a:rPr lang="en-US" sz="2799">
                <a:solidFill>
                  <a:srgbClr val="FFFFFF"/>
                </a:solidFill>
                <a:latin typeface="Halant Light"/>
                <a:ea typeface="Halant Light"/>
                <a:cs typeface="Halant Light"/>
                <a:sym typeface="Halant Light"/>
              </a:rPr>
              <a:t> Dituangkan dalam satu atau beberapa dokumen formal (contoh: UUD 1945 di Indonesia).</a:t>
            </a:r>
          </a:p>
          <a:p>
            <a:pPr algn="l" marL="604520" indent="-302260" lvl="1">
              <a:lnSpc>
                <a:spcPts val="3080"/>
              </a:lnSpc>
              <a:buFont typeface="Arial"/>
              <a:buChar char="•"/>
            </a:pPr>
            <a:r>
              <a:rPr lang="en-US" b="true" sz="2800">
                <a:solidFill>
                  <a:srgbClr val="FFFFFF"/>
                </a:solidFill>
                <a:latin typeface="Halant Bold"/>
                <a:ea typeface="Halant Bold"/>
                <a:cs typeface="Halant Bold"/>
                <a:sym typeface="Halant Bold"/>
              </a:rPr>
              <a:t>Konstitusi Tidak Tertulis (Konvensi):</a:t>
            </a:r>
            <a:r>
              <a:rPr lang="en-US" sz="2800">
                <a:solidFill>
                  <a:srgbClr val="FFFFFF"/>
                </a:solidFill>
                <a:latin typeface="Halant Light"/>
                <a:ea typeface="Halant Light"/>
                <a:cs typeface="Halant Light"/>
                <a:sym typeface="Halant Light"/>
              </a:rPr>
              <a:t> Kebiasaan atau adat ketatanegaraan yang sering timbul dan terpelihara dalam praktik penyelenggaraan negara (contoh: Pidato kenegaraan Presiden setiap 16 Agustus sebelum sidang tahunan).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04367"/>
            <a:ext cx="8762321" cy="185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82"/>
              </a:lnSpc>
            </a:pPr>
            <a:r>
              <a:rPr lang="en-US" sz="7934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J</a:t>
            </a:r>
            <a:r>
              <a:rPr lang="en-US" sz="7934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ENIS KONSTITUSI (BERDASARKAN BENTUK)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6" id="6"/>
          <p:cNvSpPr/>
          <p:nvPr/>
        </p:nvSpPr>
        <p:spPr>
          <a:xfrm rot="0">
            <a:off x="1028700" y="1028700"/>
            <a:ext cx="16230600" cy="9525"/>
          </a:xfrm>
          <a:prstGeom prst="rect">
            <a:avLst/>
          </a:prstGeom>
          <a:solidFill>
            <a:srgbClr val="A88250"/>
          </a:solid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518694" y="1663539"/>
            <a:ext cx="1597231" cy="1697405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-10800000">
            <a:off x="15314889" y="6926056"/>
            <a:ext cx="1597231" cy="1697405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>
            <a:off x="1220893" y="4108726"/>
            <a:ext cx="4432229" cy="587842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16170783" y="9611887"/>
            <a:ext cx="1088517" cy="2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36"/>
              </a:lnSpc>
            </a:pPr>
            <a:r>
              <a:rPr lang="en-US" b="true" sz="1800">
                <a:solidFill>
                  <a:srgbClr val="FFFFFF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06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19222" y="4259461"/>
            <a:ext cx="4035570" cy="31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3"/>
              </a:lnSpc>
            </a:pPr>
            <a:r>
              <a:rPr lang="en-US" b="true" sz="2258">
                <a:solidFill>
                  <a:srgbClr val="FFFFFF"/>
                </a:solidFill>
                <a:latin typeface="Halant Medium"/>
                <a:ea typeface="Halant Medium"/>
                <a:cs typeface="Halant Medium"/>
                <a:sym typeface="Halant Medium"/>
              </a:rPr>
              <a:t>23 Juli - 22 Agustus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99607"/>
            <a:ext cx="6087787" cy="6087787"/>
          </a:xfrm>
          <a:custGeom>
            <a:avLst/>
            <a:gdLst/>
            <a:ahLst/>
            <a:cxnLst/>
            <a:rect r="r" b="b" t="t" l="l"/>
            <a:pathLst>
              <a:path h="6087787" w="6087787">
                <a:moveTo>
                  <a:pt x="0" y="0"/>
                </a:moveTo>
                <a:lnTo>
                  <a:pt x="6087787" y="0"/>
                </a:lnTo>
                <a:lnTo>
                  <a:pt x="6087787" y="6087786"/>
                </a:lnTo>
                <a:lnTo>
                  <a:pt x="0" y="6087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187856" y="5176073"/>
            <a:ext cx="9071444" cy="313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079"/>
              </a:lnSpc>
              <a:buFont typeface="Arial"/>
              <a:buChar char="•"/>
            </a:pPr>
            <a:r>
              <a:rPr lang="en-US" b="true" sz="2799">
                <a:solidFill>
                  <a:srgbClr val="161617"/>
                </a:solidFill>
                <a:latin typeface="Halant Bold"/>
                <a:ea typeface="Halant Bold"/>
                <a:cs typeface="Halant Bold"/>
                <a:sym typeface="Halant Bold"/>
              </a:rPr>
              <a:t>Fl</a:t>
            </a:r>
            <a:r>
              <a:rPr lang="en-US" b="true" sz="2799">
                <a:solidFill>
                  <a:srgbClr val="161617"/>
                </a:solidFill>
                <a:latin typeface="Halant Bold"/>
                <a:ea typeface="Halant Bold"/>
                <a:cs typeface="Halant Bold"/>
                <a:sym typeface="Halant Bold"/>
              </a:rPr>
              <a:t>eksibel (Luwes):</a:t>
            </a:r>
            <a:r>
              <a:rPr lang="en-US" sz="2799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 Jika prosedur perubahannya mudah, sama seperti mengubah undang-undang biasa (jarang diterapkan pada konstitusi pokok).</a:t>
            </a:r>
          </a:p>
          <a:p>
            <a:pPr algn="just" marL="604520" indent="-302260" lvl="1">
              <a:lnSpc>
                <a:spcPts val="3080"/>
              </a:lnSpc>
              <a:buFont typeface="Arial"/>
              <a:buChar char="•"/>
            </a:pPr>
            <a:r>
              <a:rPr lang="en-US" b="true" sz="2800">
                <a:solidFill>
                  <a:srgbClr val="161617"/>
                </a:solidFill>
                <a:latin typeface="Halant Bold"/>
                <a:ea typeface="Halant Bold"/>
                <a:cs typeface="Halant Bold"/>
                <a:sym typeface="Halant Bold"/>
              </a:rPr>
              <a:t>Rigid (Kaku):</a:t>
            </a:r>
            <a:r>
              <a:rPr lang="en-US" sz="2800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 Jika prosedur perubahannya sulit, memerlukan persyaratan khusus, dan berderajat lebih tinggi dari undang-undang biasa (contoh: UUD 1945 yang memerlukan 2/3 anggota MPR hadir dan ≥50%+1 setuju).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AutoShape 4" id="4"/>
          <p:cNvSpPr/>
          <p:nvPr/>
        </p:nvSpPr>
        <p:spPr>
          <a:xfrm rot="0">
            <a:off x="12827071" y="4126945"/>
            <a:ext cx="4432229" cy="587842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5" id="5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6" id="6"/>
          <p:cNvSpPr/>
          <p:nvPr/>
        </p:nvSpPr>
        <p:spPr>
          <a:xfrm rot="0">
            <a:off x="1028700" y="1028700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6072858" y="1823651"/>
            <a:ext cx="11186442" cy="1874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08"/>
              </a:lnSpc>
            </a:pPr>
            <a:r>
              <a:rPr lang="en-US" sz="7964">
                <a:solidFill>
                  <a:srgbClr val="161617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SIFAT KONSTITUS</a:t>
            </a:r>
            <a:r>
              <a:rPr lang="en-US" sz="7964">
                <a:solidFill>
                  <a:srgbClr val="161617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I (BERDASARKAN CARA PERUBAHAN)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59961" y="4301540"/>
            <a:ext cx="4035570" cy="31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3"/>
              </a:lnSpc>
            </a:pPr>
            <a:r>
              <a:rPr lang="en-US" b="true" sz="2258">
                <a:solidFill>
                  <a:srgbClr val="FFFFFF"/>
                </a:solidFill>
                <a:latin typeface="Halant Medium"/>
                <a:ea typeface="Halant Medium"/>
                <a:cs typeface="Halant Medium"/>
                <a:sym typeface="Halant Medium"/>
              </a:rPr>
              <a:t>23 Agustus - 22 September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611887"/>
            <a:ext cx="1088517" cy="2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b="true" sz="1800">
                <a:solidFill>
                  <a:srgbClr val="161617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322349" y="2250442"/>
            <a:ext cx="5786116" cy="5786116"/>
          </a:xfrm>
          <a:custGeom>
            <a:avLst/>
            <a:gdLst/>
            <a:ahLst/>
            <a:cxnLst/>
            <a:rect r="r" b="b" t="t" l="l"/>
            <a:pathLst>
              <a:path h="5786116" w="5786116">
                <a:moveTo>
                  <a:pt x="0" y="0"/>
                </a:moveTo>
                <a:lnTo>
                  <a:pt x="5786116" y="0"/>
                </a:lnTo>
                <a:lnTo>
                  <a:pt x="5786116" y="5786116"/>
                </a:lnTo>
                <a:lnTo>
                  <a:pt x="0" y="57861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59471" y="2773102"/>
            <a:ext cx="7084417" cy="5768650"/>
            <a:chOff x="0" y="0"/>
            <a:chExt cx="9445889" cy="769153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20061"/>
              <a:ext cx="9445889" cy="7851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52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340988"/>
              <a:ext cx="8390361" cy="63505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65729" indent="-282865" lvl="1">
                <a:lnSpc>
                  <a:spcPts val="2882"/>
                </a:lnSpc>
                <a:buFont typeface="Arial"/>
                <a:buChar char="•"/>
              </a:pPr>
              <a:r>
                <a:rPr lang="en-US" sz="2620">
                  <a:solidFill>
                    <a:srgbClr val="FFFFFF"/>
                  </a:solidFill>
                  <a:latin typeface="Halant Light"/>
                  <a:ea typeface="Halant Light"/>
                  <a:cs typeface="Halant Light"/>
                  <a:sym typeface="Halant Light"/>
                </a:rPr>
                <a:t>Hu</a:t>
              </a:r>
              <a:r>
                <a:rPr lang="en-US" sz="2620">
                  <a:solidFill>
                    <a:srgbClr val="FFFFFF"/>
                  </a:solidFill>
                  <a:latin typeface="Halant Light"/>
                  <a:ea typeface="Halant Light"/>
                  <a:cs typeface="Halant Light"/>
                  <a:sym typeface="Halant Light"/>
                </a:rPr>
                <a:t>kum Dasar Tertulis Tertinggi: UUD 1945 adalah hukum dasar tertulis yang menempati kedudukan tertinggi dalam tata hukum Indonesia (setelah Pembukaan UUD 1945 yang memuat pokok kaidah fundamental negara).</a:t>
              </a:r>
            </a:p>
            <a:p>
              <a:pPr algn="l">
                <a:lnSpc>
                  <a:spcPts val="2882"/>
                </a:lnSpc>
              </a:pPr>
            </a:p>
            <a:p>
              <a:pPr algn="l" marL="565729" indent="-282865" lvl="1">
                <a:lnSpc>
                  <a:spcPts val="2882"/>
                </a:lnSpc>
                <a:buFont typeface="Arial"/>
                <a:buChar char="•"/>
              </a:pPr>
              <a:r>
                <a:rPr lang="en-US" sz="2620">
                  <a:solidFill>
                    <a:srgbClr val="FFFFFF"/>
                  </a:solidFill>
                  <a:latin typeface="Halant Light"/>
                  <a:ea typeface="Halant Light"/>
                  <a:cs typeface="Halant Light"/>
                  <a:sym typeface="Halant Light"/>
                </a:rPr>
                <a:t>Alat Kontrol: UUD 1945 berfungsi sebagai alat kontrol terhadap peraturan perundang-undangan yang lebih rendah (sesuai Hierarki Peraturan Perundang-undangan).</a:t>
              </a:r>
            </a:p>
            <a:p>
              <a:pPr algn="l">
                <a:lnSpc>
                  <a:spcPts val="2882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823417"/>
            <a:ext cx="9018952" cy="10285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0"/>
              </a:lnSpc>
            </a:pPr>
            <a:r>
              <a:rPr lang="en-US" sz="840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KEDUDUK</a:t>
            </a:r>
            <a:r>
              <a:rPr lang="en-US" sz="840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AN UUD NRI 1945</a:t>
            </a:r>
          </a:p>
        </p:txBody>
      </p:sp>
      <p:sp>
        <p:nvSpPr>
          <p:cNvPr name="AutoShape 7" id="7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8" id="8"/>
          <p:cNvSpPr/>
          <p:nvPr/>
        </p:nvSpPr>
        <p:spPr>
          <a:xfrm rot="0">
            <a:off x="1028700" y="1028700"/>
            <a:ext cx="16230600" cy="9525"/>
          </a:xfrm>
          <a:prstGeom prst="rect">
            <a:avLst/>
          </a:prstGeom>
          <a:solidFill>
            <a:srgbClr val="A88250"/>
          </a:solidFill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518694" y="1663539"/>
            <a:ext cx="1597231" cy="1697405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-10800000">
            <a:off x="15314889" y="6926056"/>
            <a:ext cx="1597231" cy="1697405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>
            <a:off x="1028700" y="2773102"/>
            <a:ext cx="4432229" cy="587842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TextBox 12" id="12"/>
          <p:cNvSpPr txBox="true"/>
          <p:nvPr/>
        </p:nvSpPr>
        <p:spPr>
          <a:xfrm rot="0">
            <a:off x="16170783" y="9611887"/>
            <a:ext cx="1088517" cy="2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36"/>
              </a:lnSpc>
            </a:pPr>
            <a:r>
              <a:rPr lang="en-US" b="true" sz="1800">
                <a:solidFill>
                  <a:srgbClr val="FFFFFF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08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7029" y="2880563"/>
            <a:ext cx="4035570" cy="31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3"/>
              </a:lnSpc>
            </a:pPr>
            <a:r>
              <a:rPr lang="en-US" b="true" sz="2258">
                <a:solidFill>
                  <a:srgbClr val="FFFFFF"/>
                </a:solidFill>
                <a:latin typeface="Halant Medium"/>
                <a:ea typeface="Halant Medium"/>
                <a:cs typeface="Halant Medium"/>
                <a:sym typeface="Halant Medium"/>
              </a:rPr>
              <a:t>23 September - 22 Oktober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160636"/>
            <a:ext cx="5965727" cy="5965727"/>
          </a:xfrm>
          <a:custGeom>
            <a:avLst/>
            <a:gdLst/>
            <a:ahLst/>
            <a:cxnLst/>
            <a:rect r="r" b="b" t="t" l="l"/>
            <a:pathLst>
              <a:path h="5965727" w="5965727">
                <a:moveTo>
                  <a:pt x="0" y="0"/>
                </a:moveTo>
                <a:lnTo>
                  <a:pt x="5965727" y="0"/>
                </a:lnTo>
                <a:lnTo>
                  <a:pt x="5965727" y="5965728"/>
                </a:lnTo>
                <a:lnTo>
                  <a:pt x="0" y="59657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151296" y="4710806"/>
            <a:ext cx="10108004" cy="4014610"/>
            <a:chOff x="0" y="0"/>
            <a:chExt cx="13477339" cy="535281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29495"/>
              <a:ext cx="13477339" cy="7976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4048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1506021" y="1373544"/>
              <a:ext cx="11971317" cy="39792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79413" indent="-289706" lvl="1">
                <a:lnSpc>
                  <a:spcPts val="2952"/>
                </a:lnSpc>
                <a:buFont typeface="Arial"/>
                <a:buChar char="•"/>
              </a:pPr>
              <a:r>
                <a:rPr lang="en-US" sz="2683">
                  <a:solidFill>
                    <a:srgbClr val="161617"/>
                  </a:solidFill>
                  <a:latin typeface="Halant Light"/>
                  <a:ea typeface="Halant Light"/>
                  <a:cs typeface="Halant Light"/>
                  <a:sym typeface="Halant Light"/>
                </a:rPr>
                <a:t>Periode 1945 – 1949: UUD 1949</a:t>
              </a:r>
            </a:p>
            <a:p>
              <a:pPr algn="just" marL="579413" indent="-289706" lvl="1">
                <a:lnSpc>
                  <a:spcPts val="2952"/>
                </a:lnSpc>
                <a:buFont typeface="Arial"/>
                <a:buChar char="•"/>
              </a:pPr>
              <a:r>
                <a:rPr lang="en-US" sz="2683">
                  <a:solidFill>
                    <a:srgbClr val="161617"/>
                  </a:solidFill>
                  <a:latin typeface="Halant"/>
                  <a:ea typeface="Halant"/>
                  <a:cs typeface="Halant"/>
                  <a:sym typeface="Halant"/>
                </a:rPr>
                <a:t>Periode 1949 – 1950: Konstitusi RIS</a:t>
              </a:r>
            </a:p>
            <a:p>
              <a:pPr algn="just" marL="579413" indent="-289706" lvl="1">
                <a:lnSpc>
                  <a:spcPts val="2952"/>
                </a:lnSpc>
                <a:buFont typeface="Arial"/>
                <a:buChar char="•"/>
              </a:pPr>
              <a:r>
                <a:rPr lang="en-US" sz="2683">
                  <a:solidFill>
                    <a:srgbClr val="161617"/>
                  </a:solidFill>
                  <a:latin typeface="Halant"/>
                  <a:ea typeface="Halant"/>
                  <a:cs typeface="Halant"/>
                  <a:sym typeface="Halant"/>
                </a:rPr>
                <a:t>Periode 1950 – 1959: UUDS 1950</a:t>
              </a:r>
            </a:p>
            <a:p>
              <a:pPr algn="just" marL="579413" indent="-289706" lvl="1">
                <a:lnSpc>
                  <a:spcPts val="2952"/>
                </a:lnSpc>
                <a:buFont typeface="Arial"/>
                <a:buChar char="•"/>
              </a:pPr>
              <a:r>
                <a:rPr lang="en-US" sz="2683">
                  <a:solidFill>
                    <a:srgbClr val="161617"/>
                  </a:solidFill>
                  <a:latin typeface="Halant"/>
                  <a:ea typeface="Halant"/>
                  <a:cs typeface="Halant"/>
                  <a:sym typeface="Halant"/>
                </a:rPr>
                <a:t>Periode 1959 – 1999: Kembali ke UUD 1945 (Melalui Dekrit Presiden 5 Juli 1959)</a:t>
              </a:r>
            </a:p>
            <a:p>
              <a:pPr algn="just" marL="579413" indent="-289706" lvl="1">
                <a:lnSpc>
                  <a:spcPts val="2952"/>
                </a:lnSpc>
                <a:buFont typeface="Arial"/>
                <a:buChar char="•"/>
              </a:pPr>
              <a:r>
                <a:rPr lang="en-US" sz="2683">
                  <a:solidFill>
                    <a:srgbClr val="161617"/>
                  </a:solidFill>
                  <a:latin typeface="Halant"/>
                  <a:ea typeface="Halant"/>
                  <a:cs typeface="Halant"/>
                  <a:sym typeface="Halant"/>
                </a:rPr>
                <a:t>Periode 1999 – Sekarang: UUD 1945 Hasil Amandemen (Dilakukan 4 kali: 1999, 2000, 2001, 2002).</a:t>
              </a:r>
            </a:p>
            <a:p>
              <a:pPr algn="just">
                <a:lnSpc>
                  <a:spcPts val="2952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rot="0">
            <a:off x="12827071" y="3618138"/>
            <a:ext cx="4432229" cy="587842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7" id="7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8" id="8"/>
          <p:cNvSpPr/>
          <p:nvPr/>
        </p:nvSpPr>
        <p:spPr>
          <a:xfrm rot="0">
            <a:off x="1028700" y="1028700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TextBox 9" id="9"/>
          <p:cNvSpPr txBox="true"/>
          <p:nvPr/>
        </p:nvSpPr>
        <p:spPr>
          <a:xfrm rot="0">
            <a:off x="8179996" y="1729110"/>
            <a:ext cx="9759929" cy="1388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286"/>
              </a:lnSpc>
            </a:pPr>
            <a:r>
              <a:rPr lang="en-US" sz="6006">
                <a:solidFill>
                  <a:srgbClr val="161617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SEJARAH PERUBAHAN KONSTITUSI INDONESIA (1945 – SEKARANG)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059961" y="3792733"/>
            <a:ext cx="4035570" cy="31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3"/>
              </a:lnSpc>
            </a:pPr>
            <a:r>
              <a:rPr lang="en-US" b="true" sz="2258">
                <a:solidFill>
                  <a:srgbClr val="FFFFFF"/>
                </a:solidFill>
                <a:latin typeface="Halant Medium"/>
                <a:ea typeface="Halant Medium"/>
                <a:cs typeface="Halant Medium"/>
                <a:sym typeface="Halant Medium"/>
              </a:rPr>
              <a:t>23 Oktober - 21 November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9611887"/>
            <a:ext cx="1088517" cy="2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b="true" sz="1800">
                <a:solidFill>
                  <a:srgbClr val="161617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71513" y="2099607"/>
            <a:ext cx="6087787" cy="6087787"/>
          </a:xfrm>
          <a:custGeom>
            <a:avLst/>
            <a:gdLst/>
            <a:ahLst/>
            <a:cxnLst/>
            <a:rect r="r" b="b" t="t" l="l"/>
            <a:pathLst>
              <a:path h="6087787" w="6087787">
                <a:moveTo>
                  <a:pt x="0" y="0"/>
                </a:moveTo>
                <a:lnTo>
                  <a:pt x="6087787" y="0"/>
                </a:lnTo>
                <a:lnTo>
                  <a:pt x="6087787" y="6087786"/>
                </a:lnTo>
                <a:lnTo>
                  <a:pt x="0" y="6087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99837" y="3360944"/>
            <a:ext cx="12916087" cy="4351977"/>
            <a:chOff x="0" y="0"/>
            <a:chExt cx="17221449" cy="5802636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38719"/>
              <a:ext cx="17221449" cy="860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64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1487258"/>
              <a:ext cx="15297043" cy="43153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24675" indent="-312337" lvl="1">
                <a:lnSpc>
                  <a:spcPts val="3182"/>
                </a:lnSpc>
                <a:buFont typeface="Arial"/>
                <a:buChar char="•"/>
              </a:pPr>
              <a:r>
                <a:rPr lang="en-US" sz="2893">
                  <a:solidFill>
                    <a:srgbClr val="FFFFFF"/>
                  </a:solidFill>
                  <a:latin typeface="Halant Light"/>
                  <a:ea typeface="Halant Light"/>
                  <a:cs typeface="Halant Light"/>
                  <a:sym typeface="Halant Light"/>
                </a:rPr>
                <a:t>Bentuk dan Kedaulatan: Negara Kesatuan berbentuk Republik, kedaulatan di tangan rakyat (Pasal 1).</a:t>
              </a:r>
            </a:p>
            <a:p>
              <a:pPr algn="l" marL="624675" indent="-312337" lvl="1">
                <a:lnSpc>
                  <a:spcPts val="3182"/>
                </a:lnSpc>
                <a:buFont typeface="Arial"/>
                <a:buChar char="•"/>
              </a:pPr>
              <a:r>
                <a:rPr lang="en-US" sz="2893">
                  <a:solidFill>
                    <a:srgbClr val="FFFFFF"/>
                  </a:solidFill>
                  <a:latin typeface="Halant Light"/>
                  <a:ea typeface="Halant Light"/>
                  <a:cs typeface="Halant Light"/>
                  <a:sym typeface="Halant Light"/>
                </a:rPr>
                <a:t>Pemisahan dan Pembagian Kekuasaan (Trias Politica): Penguatan peran lembaga negara (MPR, DPR, DPD, Presiden, MA, MK, BPK) dengan sistem check and balances.</a:t>
              </a:r>
            </a:p>
            <a:p>
              <a:pPr algn="l" marL="624675" indent="-312337" lvl="1">
                <a:lnSpc>
                  <a:spcPts val="3182"/>
                </a:lnSpc>
                <a:buFont typeface="Arial"/>
                <a:buChar char="•"/>
              </a:pPr>
              <a:r>
                <a:rPr lang="en-US" sz="2893">
                  <a:solidFill>
                    <a:srgbClr val="FFFFFF"/>
                  </a:solidFill>
                  <a:latin typeface="Halant Light"/>
                  <a:ea typeface="Halant Light"/>
                  <a:cs typeface="Halant Light"/>
                  <a:sym typeface="Halant Light"/>
                </a:rPr>
                <a:t>Jaminan HAM: Perluasan dan penegasan jaminan HAM dalam Bab XA.</a:t>
              </a:r>
            </a:p>
            <a:p>
              <a:pPr algn="l" marL="624675" indent="-312338" lvl="1">
                <a:lnSpc>
                  <a:spcPts val="3182"/>
                </a:lnSpc>
                <a:buFont typeface="Arial"/>
                <a:buChar char="•"/>
              </a:pPr>
              <a:r>
                <a:rPr lang="en-US" sz="2893">
                  <a:solidFill>
                    <a:srgbClr val="FFFFFF"/>
                  </a:solidFill>
                  <a:latin typeface="Halant Light"/>
                  <a:ea typeface="Halant Light"/>
                  <a:cs typeface="Halant Light"/>
                  <a:sym typeface="Halant Light"/>
                </a:rPr>
                <a:t>Perubahan Penting Lainnya: Pembentukan Mahkamah Konstitusi (MK), pemilihan Presiden/Wakil Presiden secara langsung.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1737692"/>
            <a:ext cx="8115300" cy="1408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6"/>
              </a:lnSpc>
            </a:pPr>
            <a:r>
              <a:rPr lang="en-US" sz="5973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POKOK-POKOK M</a:t>
            </a:r>
            <a:r>
              <a:rPr lang="en-US" sz="5973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ATERI MUATAN UUD 1945 (PASCA AMANDEMEN)</a:t>
            </a:r>
          </a:p>
        </p:txBody>
      </p:sp>
      <p:sp>
        <p:nvSpPr>
          <p:cNvPr name="AutoShape 7" id="7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8" id="8"/>
          <p:cNvSpPr/>
          <p:nvPr/>
        </p:nvSpPr>
        <p:spPr>
          <a:xfrm rot="0">
            <a:off x="1028700" y="1028700"/>
            <a:ext cx="16230600" cy="9525"/>
          </a:xfrm>
          <a:prstGeom prst="rect">
            <a:avLst/>
          </a:prstGeom>
          <a:solidFill>
            <a:srgbClr val="A88250"/>
          </a:solidFill>
        </p:spPr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518694" y="1663539"/>
            <a:ext cx="1597231" cy="1697405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-10800000">
            <a:off x="15314889" y="6926056"/>
            <a:ext cx="1597231" cy="1697405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>
            <a:off x="1028700" y="3360944"/>
            <a:ext cx="4432229" cy="587842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Freeform 12" id="12"/>
          <p:cNvSpPr/>
          <p:nvPr/>
        </p:nvSpPr>
        <p:spPr>
          <a:xfrm flipH="false" flipV="false" rot="0">
            <a:off x="11096625" y="2062162"/>
            <a:ext cx="6162675" cy="6162675"/>
          </a:xfrm>
          <a:custGeom>
            <a:avLst/>
            <a:gdLst/>
            <a:ahLst/>
            <a:cxnLst/>
            <a:rect r="r" b="b" t="t" l="l"/>
            <a:pathLst>
              <a:path h="6162675" w="6162675">
                <a:moveTo>
                  <a:pt x="0" y="0"/>
                </a:moveTo>
                <a:lnTo>
                  <a:pt x="6162675" y="0"/>
                </a:lnTo>
                <a:lnTo>
                  <a:pt x="6162675" y="6162676"/>
                </a:lnTo>
                <a:lnTo>
                  <a:pt x="0" y="61626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6170783" y="9611887"/>
            <a:ext cx="1088517" cy="2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36"/>
              </a:lnSpc>
            </a:pPr>
            <a:r>
              <a:rPr lang="en-US" b="true" sz="1800">
                <a:solidFill>
                  <a:srgbClr val="FFFFFF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10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27029" y="3511679"/>
            <a:ext cx="4035570" cy="31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3"/>
              </a:lnSpc>
            </a:pPr>
            <a:r>
              <a:rPr lang="en-US" b="true" sz="2258">
                <a:solidFill>
                  <a:srgbClr val="FFFFFF"/>
                </a:solidFill>
                <a:latin typeface="Halant Medium"/>
                <a:ea typeface="Halant Medium"/>
                <a:cs typeface="Halant Medium"/>
                <a:sym typeface="Halant Medium"/>
              </a:rPr>
              <a:t>22 November - 21 Desember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99607"/>
            <a:ext cx="6087787" cy="6087787"/>
          </a:xfrm>
          <a:custGeom>
            <a:avLst/>
            <a:gdLst/>
            <a:ahLst/>
            <a:cxnLst/>
            <a:rect r="r" b="b" t="t" l="l"/>
            <a:pathLst>
              <a:path h="6087787" w="6087787">
                <a:moveTo>
                  <a:pt x="0" y="0"/>
                </a:moveTo>
                <a:lnTo>
                  <a:pt x="6087787" y="0"/>
                </a:lnTo>
                <a:lnTo>
                  <a:pt x="6087787" y="6087786"/>
                </a:lnTo>
                <a:lnTo>
                  <a:pt x="0" y="6087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671667" y="4652198"/>
            <a:ext cx="8776588" cy="3131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079"/>
              </a:lnSpc>
              <a:buFont typeface="Arial"/>
              <a:buChar char="•"/>
            </a:pPr>
            <a:r>
              <a:rPr lang="en-US" sz="2799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Mem</a:t>
            </a:r>
            <a:r>
              <a:rPr lang="en-US" sz="2799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ahami dan Menaati: Sikap dan perilaku warga negara yang memahami, menghargai, dan menaati nilai-nilai dan norma-norma yang terkandung dalam konstitusi.</a:t>
            </a:r>
          </a:p>
          <a:p>
            <a:pPr algn="just" marL="604520" indent="-302260" lvl="1">
              <a:lnSpc>
                <a:spcPts val="3080"/>
              </a:lnSpc>
              <a:buFont typeface="Arial"/>
              <a:buChar char="•"/>
            </a:pPr>
            <a:r>
              <a:rPr lang="en-US" sz="2800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Tujuan: Mendorong terciptanya kehidupan bernegara yang tertib, demokratis, menjunjung tinggi hukum dan HAM.</a:t>
            </a:r>
          </a:p>
          <a:p>
            <a:pPr algn="just">
              <a:lnSpc>
                <a:spcPts val="3079"/>
              </a:lnSpc>
            </a:pPr>
          </a:p>
        </p:txBody>
      </p:sp>
      <p:sp>
        <p:nvSpPr>
          <p:cNvPr name="AutoShape 4" id="4"/>
          <p:cNvSpPr/>
          <p:nvPr/>
        </p:nvSpPr>
        <p:spPr>
          <a:xfrm rot="0">
            <a:off x="12827071" y="3618138"/>
            <a:ext cx="4432229" cy="587842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TextBox 5" id="5"/>
          <p:cNvSpPr txBox="true"/>
          <p:nvPr/>
        </p:nvSpPr>
        <p:spPr>
          <a:xfrm rot="0">
            <a:off x="7116487" y="1381784"/>
            <a:ext cx="10401026" cy="2774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7016"/>
              </a:lnSpc>
            </a:pPr>
            <a:r>
              <a:rPr lang="en-US" sz="7972">
                <a:solidFill>
                  <a:srgbClr val="161617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KESADARAN BERKONSTITUSI SEBAGAI WARGA NEGARA</a:t>
            </a:r>
          </a:p>
          <a:p>
            <a:pPr algn="r">
              <a:lnSpc>
                <a:spcPts val="7016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059961" y="3792733"/>
            <a:ext cx="4035570" cy="31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3"/>
              </a:lnSpc>
            </a:pPr>
            <a:r>
              <a:rPr lang="en-US" b="true" sz="2258">
                <a:solidFill>
                  <a:srgbClr val="FFFFFF"/>
                </a:solidFill>
                <a:latin typeface="Halant Medium"/>
                <a:ea typeface="Halant Medium"/>
                <a:cs typeface="Halant Medium"/>
                <a:sym typeface="Halant Medium"/>
              </a:rPr>
              <a:t>22 Desember - 19 Januari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611887"/>
            <a:ext cx="1088517" cy="2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b="true" sz="1800">
                <a:solidFill>
                  <a:srgbClr val="161617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11</a:t>
            </a:r>
          </a:p>
        </p:txBody>
      </p:sp>
      <p:sp>
        <p:nvSpPr>
          <p:cNvPr name="AutoShape 8" id="8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9" id="9"/>
          <p:cNvSpPr/>
          <p:nvPr/>
        </p:nvSpPr>
        <p:spPr>
          <a:xfrm rot="0">
            <a:off x="1028700" y="1028700"/>
            <a:ext cx="16230600" cy="9525"/>
          </a:xfrm>
          <a:prstGeom prst="rect">
            <a:avLst/>
          </a:prstGeom>
          <a:solidFill>
            <a:srgbClr val="A88250"/>
          </a:solid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71513" y="2215270"/>
            <a:ext cx="5856460" cy="5856460"/>
          </a:xfrm>
          <a:custGeom>
            <a:avLst/>
            <a:gdLst/>
            <a:ahLst/>
            <a:cxnLst/>
            <a:rect r="r" b="b" t="t" l="l"/>
            <a:pathLst>
              <a:path h="5856460" w="5856460">
                <a:moveTo>
                  <a:pt x="0" y="0"/>
                </a:moveTo>
                <a:lnTo>
                  <a:pt x="5856460" y="0"/>
                </a:lnTo>
                <a:lnTo>
                  <a:pt x="5856460" y="5856460"/>
                </a:lnTo>
                <a:lnTo>
                  <a:pt x="0" y="5856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510762"/>
            <a:ext cx="8115300" cy="3912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079"/>
              </a:lnSpc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Halant Light"/>
                <a:ea typeface="Halant Light"/>
                <a:cs typeface="Halant Light"/>
                <a:sym typeface="Halant Light"/>
              </a:rPr>
              <a:t>Aktif </a:t>
            </a:r>
            <a:r>
              <a:rPr lang="en-US" sz="2799">
                <a:solidFill>
                  <a:srgbClr val="FFFFFF"/>
                </a:solidFill>
                <a:latin typeface="Halant Light"/>
                <a:ea typeface="Halant Light"/>
                <a:cs typeface="Halant Light"/>
                <a:sym typeface="Halant Light"/>
              </a:rPr>
              <a:t>berpartisipasi dalam proses demokrasi dan pengawasan pemerintahan.</a:t>
            </a:r>
          </a:p>
          <a:p>
            <a:pPr algn="just" marL="604519" indent="-302260" lvl="1">
              <a:lnSpc>
                <a:spcPts val="3079"/>
              </a:lnSpc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Halant Light"/>
                <a:ea typeface="Halant Light"/>
                <a:cs typeface="Halant Light"/>
                <a:sym typeface="Halant Light"/>
              </a:rPr>
              <a:t>Menghormati dan menjunjung tinggi supremasi UUD 1945 dan peraturan perundang-undangan di bawahnya.</a:t>
            </a:r>
          </a:p>
          <a:p>
            <a:pPr algn="l" marL="604519" indent="-302260" lvl="1">
              <a:lnSpc>
                <a:spcPts val="3079"/>
              </a:lnSpc>
              <a:buAutoNum type="arabicPeriod" startAt="1"/>
            </a:pPr>
            <a:r>
              <a:rPr lang="en-US" sz="2799">
                <a:solidFill>
                  <a:srgbClr val="FFFFFF"/>
                </a:solidFill>
                <a:latin typeface="Halant Light"/>
                <a:ea typeface="Halant Light"/>
                <a:cs typeface="Halant Light"/>
                <a:sym typeface="Halant Light"/>
              </a:rPr>
              <a:t>Menggunakan hak konstitusional (misalnya hak berpendapat, hak memilih) dengan bertanggung jawab.</a:t>
            </a:r>
          </a:p>
          <a:p>
            <a:pPr algn="l">
              <a:lnSpc>
                <a:spcPts val="3079"/>
              </a:lnSpc>
            </a:pPr>
          </a:p>
          <a:p>
            <a:pPr algn="l">
              <a:lnSpc>
                <a:spcPts val="3080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851992"/>
            <a:ext cx="8115300" cy="1101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89"/>
              </a:lnSpc>
            </a:pPr>
            <a:r>
              <a:rPr lang="en-US" sz="907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PERAN W</a:t>
            </a:r>
            <a:r>
              <a:rPr lang="en-US" sz="9079">
                <a:solidFill>
                  <a:srgbClr val="FFFFFF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ARGA NEGARA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6" id="6"/>
          <p:cNvSpPr/>
          <p:nvPr/>
        </p:nvSpPr>
        <p:spPr>
          <a:xfrm rot="0">
            <a:off x="1028700" y="1028700"/>
            <a:ext cx="16230600" cy="9525"/>
          </a:xfrm>
          <a:prstGeom prst="rect">
            <a:avLst/>
          </a:prstGeom>
          <a:solidFill>
            <a:srgbClr val="A88250"/>
          </a:solidFill>
        </p:spPr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1518694" y="1663539"/>
            <a:ext cx="1597231" cy="1697405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-10800000">
            <a:off x="15314889" y="6926056"/>
            <a:ext cx="1597231" cy="1697405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>
            <a:off x="1028700" y="3360944"/>
            <a:ext cx="4432229" cy="587842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TextBox 10" id="10"/>
          <p:cNvSpPr txBox="true"/>
          <p:nvPr/>
        </p:nvSpPr>
        <p:spPr>
          <a:xfrm rot="0">
            <a:off x="16170783" y="9611887"/>
            <a:ext cx="1088517" cy="2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36"/>
              </a:lnSpc>
            </a:pPr>
            <a:r>
              <a:rPr lang="en-US" b="true" sz="1800">
                <a:solidFill>
                  <a:srgbClr val="FFFFFF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7029" y="3511679"/>
            <a:ext cx="4035570" cy="31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03"/>
              </a:lnSpc>
            </a:pPr>
            <a:r>
              <a:rPr lang="en-US" b="true" sz="2258">
                <a:solidFill>
                  <a:srgbClr val="FFFFFF"/>
                </a:solidFill>
                <a:latin typeface="Halant Medium"/>
                <a:ea typeface="Halant Medium"/>
                <a:cs typeface="Halant Medium"/>
                <a:sym typeface="Halant Medium"/>
              </a:rPr>
              <a:t>20 Januari - 18 Februari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93930" y="-165336"/>
            <a:ext cx="18581930" cy="10452336"/>
          </a:xfrm>
          <a:custGeom>
            <a:avLst/>
            <a:gdLst/>
            <a:ahLst/>
            <a:cxnLst/>
            <a:rect r="r" b="b" t="t" l="l"/>
            <a:pathLst>
              <a:path h="10452336" w="18581930">
                <a:moveTo>
                  <a:pt x="0" y="0"/>
                </a:moveTo>
                <a:lnTo>
                  <a:pt x="18581930" y="0"/>
                </a:lnTo>
                <a:lnTo>
                  <a:pt x="18581930" y="10452336"/>
                </a:lnTo>
                <a:lnTo>
                  <a:pt x="0" y="10452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099607"/>
            <a:ext cx="6087787" cy="6087787"/>
          </a:xfrm>
          <a:custGeom>
            <a:avLst/>
            <a:gdLst/>
            <a:ahLst/>
            <a:cxnLst/>
            <a:rect r="r" b="b" t="t" l="l"/>
            <a:pathLst>
              <a:path h="6087787" w="6087787">
                <a:moveTo>
                  <a:pt x="0" y="0"/>
                </a:moveTo>
                <a:lnTo>
                  <a:pt x="6087787" y="0"/>
                </a:lnTo>
                <a:lnTo>
                  <a:pt x="6087787" y="6087786"/>
                </a:lnTo>
                <a:lnTo>
                  <a:pt x="0" y="60877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49609" y="4634606"/>
            <a:ext cx="10327223" cy="4870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96"/>
              </a:lnSpc>
            </a:pPr>
            <a:r>
              <a:rPr lang="en-US" sz="2178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Konstitusi, sebagai Hukum Dasar Te</a:t>
            </a:r>
            <a:r>
              <a:rPr lang="en-US" sz="2178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rtinggi negara, memiliki peran fundamental yang tak tergantikan dalam kehidupan berbangsa dan bernegara.</a:t>
            </a:r>
          </a:p>
          <a:p>
            <a:pPr algn="just" marL="470349" indent="-235175" lvl="1">
              <a:lnSpc>
                <a:spcPts val="2396"/>
              </a:lnSpc>
              <a:buAutoNum type="arabicPeriod" startAt="1"/>
            </a:pPr>
            <a:r>
              <a:rPr lang="en-US" sz="2178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Fungsi Utama: Konstitusi berfungsi sebagai penentu dan pembatas kekuasaan penyelenggara negara, sekaligus menjadi penjamin dan pelindung Hak Asasi Manusia (HAM) bagi warga negara. Tanpa konstitusi, kekuasaan akan cenderung sewenang-wenang (diktator).</a:t>
            </a:r>
          </a:p>
          <a:p>
            <a:pPr algn="just" marL="470349" indent="-235175" lvl="1">
              <a:lnSpc>
                <a:spcPts val="2396"/>
              </a:lnSpc>
              <a:buAutoNum type="arabicPeriod" startAt="1"/>
            </a:pPr>
            <a:r>
              <a:rPr lang="en-US" sz="2178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Konstitusi Indonesia: Undang-Undang Dasar Negara Republik Indonesia Tahun 1945 (UUD NRI 1945) adalah perwujudan Konstitusi dan Konstitusionalisme di Indonesia.</a:t>
            </a:r>
          </a:p>
          <a:p>
            <a:pPr algn="just" marL="470349" indent="-235175" lvl="1">
              <a:lnSpc>
                <a:spcPts val="2396"/>
              </a:lnSpc>
              <a:buAutoNum type="arabicPeriod" startAt="1"/>
            </a:pPr>
            <a:r>
              <a:rPr lang="en-US" sz="2178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Amanat Kedaulatan Rakyat: Setelah amandemen, UUD 1945 semakin mempertegas sistem kedaulatan rakyat dan negara hukum melalui mekanisme check and balances antarlembaga negara dan penegasan HAM.</a:t>
            </a:r>
          </a:p>
          <a:p>
            <a:pPr algn="just" marL="470350" indent="-235175" lvl="1">
              <a:lnSpc>
                <a:spcPts val="2396"/>
              </a:lnSpc>
              <a:buAutoNum type="arabicPeriod" startAt="1"/>
            </a:pPr>
            <a:r>
              <a:rPr lang="en-US" sz="2178">
                <a:solidFill>
                  <a:srgbClr val="161617"/>
                </a:solidFill>
                <a:latin typeface="Halant Light"/>
                <a:ea typeface="Halant Light"/>
                <a:cs typeface="Halant Light"/>
                <a:sym typeface="Halant Light"/>
              </a:rPr>
              <a:t>Peran Kita: Kesadaran berkonstitusi berarti kita sebagai warga negara harus memahami, menghormati, dan menaati seluruh aturan dasar yang ada di dalamnya, karena konstitusi adalah kontrak sosial tertinggi demi terciptanya ketertiban dan keadilan.</a:t>
            </a:r>
          </a:p>
          <a:p>
            <a:pPr algn="just">
              <a:lnSpc>
                <a:spcPts val="2396"/>
              </a:lnSpc>
            </a:pPr>
          </a:p>
        </p:txBody>
      </p:sp>
      <p:sp>
        <p:nvSpPr>
          <p:cNvPr name="AutoShape 4" id="4"/>
          <p:cNvSpPr/>
          <p:nvPr/>
        </p:nvSpPr>
        <p:spPr>
          <a:xfrm rot="0">
            <a:off x="12827071" y="3618138"/>
            <a:ext cx="4432229" cy="587842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5" id="5"/>
          <p:cNvSpPr/>
          <p:nvPr/>
        </p:nvSpPr>
        <p:spPr>
          <a:xfrm rot="0">
            <a:off x="1028700" y="9248775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AutoShape 6" id="6"/>
          <p:cNvSpPr/>
          <p:nvPr/>
        </p:nvSpPr>
        <p:spPr>
          <a:xfrm rot="0">
            <a:off x="1028700" y="1028700"/>
            <a:ext cx="16230600" cy="9525"/>
          </a:xfrm>
          <a:prstGeom prst="rect">
            <a:avLst/>
          </a:prstGeom>
          <a:solidFill>
            <a:srgbClr val="A88250"/>
          </a:solidFill>
        </p:spPr>
      </p:sp>
      <p:sp>
        <p:nvSpPr>
          <p:cNvPr name="TextBox 7" id="7"/>
          <p:cNvSpPr txBox="true"/>
          <p:nvPr/>
        </p:nvSpPr>
        <p:spPr>
          <a:xfrm rot="0">
            <a:off x="10947625" y="2059704"/>
            <a:ext cx="5576507" cy="129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329"/>
              </a:lnSpc>
            </a:pPr>
            <a:r>
              <a:rPr lang="en-US" sz="10602">
                <a:solidFill>
                  <a:srgbClr val="161617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K</a:t>
            </a:r>
            <a:r>
              <a:rPr lang="en-US" sz="10602">
                <a:solidFill>
                  <a:srgbClr val="161617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ESIMPULAN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059961" y="3792733"/>
            <a:ext cx="4035570" cy="314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03"/>
              </a:lnSpc>
            </a:pPr>
            <a:r>
              <a:rPr lang="en-US" b="true" sz="2258">
                <a:solidFill>
                  <a:srgbClr val="FFFFFF"/>
                </a:solidFill>
                <a:latin typeface="Halant Medium"/>
                <a:ea typeface="Halant Medium"/>
                <a:cs typeface="Halant Medium"/>
                <a:sym typeface="Halant Medium"/>
              </a:rPr>
              <a:t>19 Februari - 20 Maret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9611887"/>
            <a:ext cx="1088517" cy="245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b="true" sz="1800">
                <a:solidFill>
                  <a:srgbClr val="161617"/>
                </a:solidFill>
                <a:latin typeface="Halant Semi-Bold"/>
                <a:ea typeface="Halant Semi-Bold"/>
                <a:cs typeface="Halant Semi-Bold"/>
                <a:sym typeface="Halant Semi-Bold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DAG0IrU6G0k</dc:identifier>
  <dcterms:modified xsi:type="dcterms:W3CDTF">2011-08-01T06:04:30Z</dcterms:modified>
  <cp:revision>1</cp:revision>
  <dc:title>Presentasi Animasi Lambang Zodiak Hitam dan Emas</dc:title>
</cp:coreProperties>
</file>